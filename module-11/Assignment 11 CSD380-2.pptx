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0F855D-D546-9BFF-12FF-D98F0B3586EE}" v="498" dt="2025-12-14T18:52:03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60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374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12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839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35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370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32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38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50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39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851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761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350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016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13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188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86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83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nyk.io/learn/dependency-scanning/" TargetMode="External"/><Relationship Id="rId3" Type="http://schemas.openxmlformats.org/officeDocument/2006/relationships/hyperlink" Target="https://docs.github.com/en/repositories/managing-your-repositorys-settings-and-features/managing-access-to-your-repository" TargetMode="External"/><Relationship Id="rId7" Type="http://schemas.openxmlformats.org/officeDocument/2006/relationships/hyperlink" Target="https://owasp.org/www-project-secure-software-development-lifecycle/" TargetMode="External"/><Relationship Id="rId2" Type="http://schemas.openxmlformats.org/officeDocument/2006/relationships/hyperlink" Target="https://docs.github.com/en/code-security/secret-scanning/about-secret-scann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penai.com/" TargetMode="External"/><Relationship Id="rId5" Type="http://schemas.openxmlformats.org/officeDocument/2006/relationships/hyperlink" Target="https://csrc.nist.gov/pubs/sp/800/218/final?utm_source=chatgpt.com" TargetMode="External"/><Relationship Id="rId4" Type="http://schemas.openxmlformats.org/officeDocument/2006/relationships/hyperlink" Target="https://docs.github.com/en/repositories/configuring-branches-and-merges-in-your-repository/managing-protected-branch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Security Controls </a:t>
            </a:r>
            <a:r>
              <a:rPr lang="en-US"/>
              <a:t>in Shared Source Code Repositories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Justin Marucci </a:t>
            </a:r>
          </a:p>
          <a:p>
            <a:r>
              <a:rPr lang="en-US"/>
              <a:t>CSD-380</a:t>
            </a:r>
            <a:endParaRPr lang="en-US" dirty="0"/>
          </a:p>
          <a:p>
            <a:r>
              <a:rPr lang="en-US"/>
              <a:t>Assignment 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B6E2-A3AD-3F08-413B-681065C44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222AC-6BA5-678A-5ABA-96E4D135E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Measures certain processes and policies protecting code from unauthori</a:t>
            </a:r>
            <a:r>
              <a:rPr lang="en-US">
                <a:solidFill>
                  <a:srgbClr val="000000"/>
                </a:solidFill>
                <a:latin typeface="Corbel"/>
              </a:rPr>
              <a:t>zed</a:t>
            </a:r>
            <a:r>
              <a:rPr lang="en-US" dirty="0"/>
              <a:t> </a:t>
            </a:r>
            <a:r>
              <a:rPr lang="en-US"/>
              <a:t>users and to protect from threats. (First line of defense)</a:t>
            </a:r>
          </a:p>
          <a:p>
            <a:pPr>
              <a:buClr>
                <a:srgbClr val="1287C3"/>
              </a:buClr>
            </a:pPr>
            <a:r>
              <a:rPr lang="en-US"/>
              <a:t>Platforms:</a:t>
            </a:r>
            <a:endParaRPr lang="en-US" dirty="0"/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/>
              <a:t>GitHub</a:t>
            </a:r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/>
              <a:t>Gitlab</a:t>
            </a:r>
          </a:p>
          <a:p>
            <a:pPr>
              <a:buClr>
                <a:srgbClr val="1287C3"/>
              </a:buClr>
            </a:pPr>
            <a:r>
              <a:rPr lang="en-US"/>
              <a:t>Why use them?</a:t>
            </a:r>
            <a:endParaRPr lang="en-US" dirty="0"/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/>
              <a:t>Protect property and stop theft</a:t>
            </a:r>
            <a:endParaRPr lang="en-US" dirty="0"/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 dirty="0"/>
              <a:t>Defend agains</a:t>
            </a:r>
            <a:r>
              <a:rPr lang="en-US"/>
              <a:t>t attacks </a:t>
            </a:r>
            <a:endParaRPr lang="en-US" dirty="0"/>
          </a:p>
          <a:p>
            <a:pPr>
              <a:buClr>
                <a:srgbClr val="1287C3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829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0F9A-0CAA-018B-1020-72AE9503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 and Authentication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38C0A-6923-89B6-A8D9-BBAFE6C9F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76266"/>
            <a:ext cx="10018713" cy="3814934"/>
          </a:xfrm>
        </p:spPr>
        <p:txBody>
          <a:bodyPr/>
          <a:lstStyle/>
          <a:p>
            <a:r>
              <a:rPr lang="en-US"/>
              <a:t>Sharing repositories require strong protection to protect code </a:t>
            </a:r>
          </a:p>
          <a:p>
            <a:pPr>
              <a:buClr>
                <a:srgbClr val="1287C3"/>
              </a:buClr>
            </a:pPr>
            <a:r>
              <a:rPr lang="en-US"/>
              <a:t>Role Based Access Control – Permissions are granted based on your role with the team </a:t>
            </a:r>
          </a:p>
          <a:p>
            <a:pPr>
              <a:buClr>
                <a:srgbClr val="1287C3"/>
              </a:buClr>
            </a:pPr>
            <a:r>
              <a:rPr lang="en-US" dirty="0">
                <a:ea typeface="+mn-lt"/>
                <a:cs typeface="+mn-lt"/>
              </a:rPr>
              <a:t>Multi-Factor Authentication (MFA): Requires an additional verification method beyond a password, which helps prevent unauthorized access even if credentials are stolen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984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7434A-7390-6484-C6DE-0F2ADD8F6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Automated Security Tools &amp; Monitoring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78006-3A72-5DE7-C7E8-B8B772027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Secret Scanning: Automatically detects exposed credentials such as tokens and </a:t>
            </a:r>
            <a:r>
              <a:rPr lang="en-US">
                <a:ea typeface="+mn-lt"/>
                <a:cs typeface="+mn-lt"/>
              </a:rPr>
              <a:t>passwords</a:t>
            </a:r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Static</a:t>
            </a:r>
            <a:r>
              <a:rPr lang="en-US" dirty="0">
                <a:ea typeface="+mn-lt"/>
                <a:cs typeface="+mn-lt"/>
              </a:rPr>
              <a:t> Application Security Testing (SAST): Analyzes source code for security flaws early in development, allowing issues to be fixed before deployment.</a:t>
            </a:r>
            <a:endParaRPr lang="en-US" dirty="0"/>
          </a:p>
          <a:p>
            <a:pPr>
              <a:buClr>
                <a:srgbClr val="1287C3"/>
              </a:buClr>
            </a:pPr>
            <a:r>
              <a:rPr lang="en-US" dirty="0">
                <a:ea typeface="+mn-lt"/>
                <a:cs typeface="+mn-lt"/>
              </a:rPr>
              <a:t>Continuous Monitoring &amp; Audit Logs: Tracks repository activity and security events, providing short messages when a change is made to </a:t>
            </a:r>
            <a:r>
              <a:rPr lang="en-US" dirty="0" err="1">
                <a:ea typeface="+mn-lt"/>
                <a:cs typeface="+mn-lt"/>
              </a:rPr>
              <a:t>avoide</a:t>
            </a:r>
            <a:r>
              <a:rPr lang="en-US" dirty="0">
                <a:ea typeface="+mn-lt"/>
                <a:cs typeface="+mn-lt"/>
              </a:rPr>
              <a:t> confusion (Like in assignment 10)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40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D37CD-B3A5-9536-1C9C-F2A8B1D83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Repository </a:t>
            </a:r>
            <a:r>
              <a:rPr lang="en-US"/>
              <a:t>Practices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E59F1-4544-5585-9891-F22094417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+mn-lt"/>
                <a:cs typeface="+mn-lt"/>
              </a:rPr>
              <a:t>Secure CI/CD </a:t>
            </a:r>
            <a:r>
              <a:rPr lang="en-US">
                <a:ea typeface="+mn-lt"/>
                <a:cs typeface="+mn-lt"/>
              </a:rPr>
              <a:t>Pipelines - Protect</a:t>
            </a:r>
            <a:r>
              <a:rPr lang="en-US" dirty="0">
                <a:ea typeface="+mn-lt"/>
                <a:cs typeface="+mn-lt"/>
              </a:rPr>
              <a:t> build and deployment workflows and include security checks before releases.</a:t>
            </a:r>
            <a:endParaRPr lang="en-US" dirty="0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Regular Reviews - Periodically review user access and security settings to keep the repository secure.</a:t>
            </a:r>
            <a:endParaRPr lang="en-US"/>
          </a:p>
          <a:p>
            <a:pPr>
              <a:buClr>
                <a:srgbClr val="1287C3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48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CC6E-33BC-9C35-CA61-E47B4005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 of Security Controls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EE148-60D1-BE15-E165-625473074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Prevent unauthorized access to source code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Protect the integrity of the code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Ensure accountability and traceability of changes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Protect sensitive data and secrets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Detect security issues early in development</a:t>
            </a:r>
            <a:endParaRPr lang="en-US"/>
          </a:p>
          <a:p>
            <a:pPr>
              <a:buClr>
                <a:srgbClr val="1287C3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44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7C53-423B-0F48-68DF-9C8ADDBC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FD69D-04EC-8937-5B87-F134DF2C6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>
                <a:ea typeface="+mn-lt"/>
                <a:cs typeface="+mn-lt"/>
              </a:rPr>
              <a:t>GitHub. (n.d.). </a:t>
            </a:r>
            <a:r>
              <a:rPr lang="en-US" i="1">
                <a:ea typeface="+mn-lt"/>
                <a:cs typeface="+mn-lt"/>
              </a:rPr>
              <a:t>About secret scanning</a:t>
            </a:r>
            <a:r>
              <a:rPr lang="en-US">
                <a:ea typeface="+mn-lt"/>
                <a:cs typeface="+mn-lt"/>
              </a:rPr>
              <a:t>. GitHub Docs.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  <a:hlinkClick r:id="rId2"/>
              </a:rPr>
              <a:t>https://docs.github.com/en/code-security/secret-scanning/about-secret-scanning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GitHub. (n.d.). </a:t>
            </a:r>
            <a:r>
              <a:rPr lang="en-US" i="1">
                <a:ea typeface="+mn-lt"/>
                <a:cs typeface="+mn-lt"/>
              </a:rPr>
              <a:t>Managing access to repositories</a:t>
            </a:r>
            <a:r>
              <a:rPr lang="en-US">
                <a:ea typeface="+mn-lt"/>
                <a:cs typeface="+mn-lt"/>
              </a:rPr>
              <a:t>. GitHub Docs.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  <a:hlinkClick r:id="rId3"/>
              </a:rPr>
              <a:t>https://docs.github.com/en/repositories/managing-your-repositorys-settings-and-features/managing-access-to-your-repository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GitHub. (n.d.). </a:t>
            </a:r>
            <a:r>
              <a:rPr lang="en-US" i="1">
                <a:ea typeface="+mn-lt"/>
                <a:cs typeface="+mn-lt"/>
              </a:rPr>
              <a:t>Protecting branches</a:t>
            </a:r>
            <a:r>
              <a:rPr lang="en-US">
                <a:ea typeface="+mn-lt"/>
                <a:cs typeface="+mn-lt"/>
              </a:rPr>
              <a:t>. GitHub Docs.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  <a:hlinkClick r:id="rId4"/>
              </a:rPr>
              <a:t>https://docs.github.com/en/repositories/configuring-branches-and-merges-in-your-repository/managing-protected-branches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National Institute of Standards and Technology. (2022). </a:t>
            </a:r>
            <a:r>
              <a:rPr lang="en-US" i="1">
                <a:ea typeface="+mn-lt"/>
                <a:cs typeface="+mn-lt"/>
              </a:rPr>
              <a:t>Secure software development framework (SSDF) (SP 800-218)</a:t>
            </a:r>
            <a:r>
              <a:rPr lang="en-US">
                <a:ea typeface="+mn-lt"/>
                <a:cs typeface="+mn-lt"/>
              </a:rPr>
              <a:t>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  <a:hlinkClick r:id="rId5"/>
              </a:rPr>
              <a:t>https://csrc.nist.gov/pubs/sp/800/218/final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OpenAI. (2024). </a:t>
            </a:r>
            <a:r>
              <a:rPr lang="en-US" i="1">
                <a:ea typeface="+mn-lt"/>
                <a:cs typeface="+mn-lt"/>
              </a:rPr>
              <a:t>ChatGPT</a:t>
            </a:r>
            <a:r>
              <a:rPr lang="en-US">
                <a:ea typeface="+mn-lt"/>
                <a:cs typeface="+mn-lt"/>
              </a:rPr>
              <a:t>. </a:t>
            </a:r>
            <a:r>
              <a:rPr lang="en-US" dirty="0">
                <a:ea typeface="+mn-lt"/>
                <a:cs typeface="+mn-lt"/>
                <a:hlinkClick r:id="rId6"/>
              </a:rPr>
              <a:t>https://www.openai.com</a:t>
            </a:r>
            <a:br>
              <a:rPr lang="en-US" dirty="0">
                <a:ea typeface="+mn-lt"/>
                <a:cs typeface="+mn-lt"/>
              </a:rPr>
            </a:b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OWASP Foundation. (n.d.). </a:t>
            </a:r>
            <a:r>
              <a:rPr lang="en-US" i="1">
                <a:ea typeface="+mn-lt"/>
                <a:cs typeface="+mn-lt"/>
              </a:rPr>
              <a:t>OWASP secure software development lifecycle (SSDLC)</a:t>
            </a:r>
            <a:r>
              <a:rPr lang="en-US">
                <a:ea typeface="+mn-lt"/>
                <a:cs typeface="+mn-lt"/>
              </a:rPr>
              <a:t>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  <a:hlinkClick r:id="rId7"/>
              </a:rPr>
              <a:t>https://owasp.org/www-project-secure-software-development-lifecycle/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dirty="0" err="1">
                <a:ea typeface="+mn-lt"/>
                <a:cs typeface="+mn-lt"/>
              </a:rPr>
              <a:t>Snyk</a:t>
            </a:r>
            <a:r>
              <a:rPr lang="en-US" dirty="0">
                <a:ea typeface="+mn-lt"/>
                <a:cs typeface="+mn-lt"/>
              </a:rPr>
              <a:t>. (n.d.). </a:t>
            </a:r>
            <a:r>
              <a:rPr lang="en-US" i="1" dirty="0">
                <a:ea typeface="+mn-lt"/>
                <a:cs typeface="+mn-lt"/>
              </a:rPr>
              <a:t>What is dependency scanning?</a:t>
            </a:r>
            <a:br>
              <a:rPr lang="en-US" i="1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  <a:hlinkClick r:id="rId8"/>
              </a:rPr>
              <a:t>https://snyk.io/learn/dependency-scanning/</a:t>
            </a:r>
            <a:endParaRPr lang="en-US"/>
          </a:p>
          <a:p>
            <a:pPr>
              <a:buClr>
                <a:srgbClr val="1287C3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1709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Parallax</vt:lpstr>
      <vt:lpstr>Security Controls in Shared Source Code Repositories</vt:lpstr>
      <vt:lpstr>Overview </vt:lpstr>
      <vt:lpstr>Access and Authentication </vt:lpstr>
      <vt:lpstr>Automated Security Tools &amp; Monitoring</vt:lpstr>
      <vt:lpstr>Best Repository Practices </vt:lpstr>
      <vt:lpstr>Goals of Security Controls </vt:lpstr>
      <vt:lpstr>Sources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106</cp:revision>
  <dcterms:created xsi:type="dcterms:W3CDTF">2025-12-14T18:15:39Z</dcterms:created>
  <dcterms:modified xsi:type="dcterms:W3CDTF">2025-12-14T20:51:35Z</dcterms:modified>
</cp:coreProperties>
</file>