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A4CC1-A238-3681-F43C-D742E7C6D60A}" v="963" dt="2025-12-05T23:25:28.746"/>
    <p1510:client id="{E4E49847-9ED8-5C23-15A5-5A7B768FD62C}" v="4" dt="2025-12-07T14:56:47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33495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469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555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55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965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3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13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5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8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98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77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re.google/sre-book/postmortem-culture/?utm_source=chatgpt.com" TargetMode="External"/><Relationship Id="rId3" Type="http://schemas.openxmlformats.org/officeDocument/2006/relationships/hyperlink" Target="https://www.atlassian.com/devops/what-is-devops/devops-culture?utm_source=chatgpt.com" TargetMode="External"/><Relationship Id="rId7" Type="http://schemas.openxmlformats.org/officeDocument/2006/relationships/hyperlink" Target="https://www.dasa.org/blog/the-importance-of-psychological-safety-in-devops-teams/" TargetMode="External"/><Relationship Id="rId12" Type="http://schemas.openxmlformats.org/officeDocument/2006/relationships/hyperlink" Target="https://www.geektonight.com/what-is-communication/?utm_source=chatgpt.com" TargetMode="External"/><Relationship Id="rId2" Type="http://schemas.openxmlformats.org/officeDocument/2006/relationships/hyperlink" Target="https://www.arnesoncommunicates.com/blogs-and-news/as-long-as-im-still-learning-ill-continue-teaching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sa.org/blog/the-importance-of-psychological-safety-in-devops-teams/?utm_source=chatgpt.com" TargetMode="External"/><Relationship Id="rId11" Type="http://schemas.openxmlformats.org/officeDocument/2006/relationships/hyperlink" Target="https://devops.com/from-incidents-to-insights-the-power-of-blameless-postmortems/?utm_source=chatgpt.com" TargetMode="External"/><Relationship Id="rId5" Type="http://schemas.openxmlformats.org/officeDocument/2006/relationships/hyperlink" Target="https://corporatefinanceinstitute.com/resources/management/accountability/" TargetMode="External"/><Relationship Id="rId10" Type="http://schemas.openxmlformats.org/officeDocument/2006/relationships/hyperlink" Target="https://chat.openai.com/" TargetMode="External"/><Relationship Id="rId4" Type="http://schemas.openxmlformats.org/officeDocument/2006/relationships/hyperlink" Target="https://www.atlassian.com/incident-management/postmortem/blameless?utm_source=chatgpt.com" TargetMode="External"/><Relationship Id="rId9" Type="http://schemas.openxmlformats.org/officeDocument/2006/relationships/hyperlink" Target="https://sre.google/sre-book/postmortem-cultu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Establishing a Just, Learning 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Justin Marucci </a:t>
            </a:r>
          </a:p>
          <a:p>
            <a:r>
              <a:rPr lang="en-US" dirty="0"/>
              <a:t>Assignment 9</a:t>
            </a:r>
          </a:p>
          <a:p>
            <a:r>
              <a:rPr lang="en-US" dirty="0"/>
              <a:t>CSD 380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6DC6-31B2-CF68-247E-16DD9CEA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Culture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DFCB4-E6CE-AC38-215B-27687997C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Just Culture is creating a workplace that works well as a team and emphasizes fairness and accountability. </a:t>
            </a:r>
          </a:p>
          <a:p>
            <a:r>
              <a:rPr lang="en-US" b="1" dirty="0"/>
              <a:t>Communication</a:t>
            </a:r>
            <a:r>
              <a:rPr lang="en-US" dirty="0"/>
              <a:t> – Employees are encouraged to admit and/or report mistakes when they are made to hold people accountable</a:t>
            </a:r>
          </a:p>
          <a:p>
            <a:r>
              <a:rPr lang="en-US" b="1" dirty="0"/>
              <a:t>Accountability for mistakes</a:t>
            </a:r>
            <a:r>
              <a:rPr lang="en-US" dirty="0"/>
              <a:t> – Take accountability for your actions. Blaming people can cause problems even if the issue is not your fault, have good communication with your team to solve the issue. </a:t>
            </a:r>
          </a:p>
          <a:p>
            <a:r>
              <a:rPr lang="en-US" b="1" dirty="0"/>
              <a:t>Learning</a:t>
            </a:r>
            <a:r>
              <a:rPr lang="en-US" dirty="0"/>
              <a:t> – Errors should be seen as an opportunity to improve, not failures </a:t>
            </a:r>
          </a:p>
          <a:p>
            <a:r>
              <a:rPr lang="en-US" dirty="0"/>
              <a:t>"My problem is your problem"</a:t>
            </a:r>
          </a:p>
          <a:p>
            <a:r>
              <a:rPr lang="en-US" dirty="0">
                <a:ea typeface="+mn-lt"/>
                <a:cs typeface="+mn-lt"/>
              </a:rPr>
              <a:t>"Fix the problem, not the person."</a:t>
            </a:r>
          </a:p>
          <a:p>
            <a:r>
              <a:rPr lang="en-US" dirty="0">
                <a:ea typeface="+mn-lt"/>
                <a:cs typeface="+mn-lt"/>
              </a:rPr>
              <a:t>“A culture of blame prevents a culture of learning.”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17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F7CF-7B84-CA1C-241D-5A3459F5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61F94-2101-4D07-CB40-045284F6C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Employees may hesitate to speak up because they fear blame or punishment.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Poor communication leads to hidden mistakes, which blocks improvement.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Teams need safe spaces where people can report issues without judgment.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Clear communication helps everyone understand:</a:t>
            </a:r>
            <a:endParaRPr lang="en-US" dirty="0"/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  <a:ea typeface="+mn-lt"/>
                <a:cs typeface="+mn-lt"/>
              </a:rPr>
              <a:t>What happened</a:t>
            </a:r>
            <a:endParaRPr lang="en-US" spc="10" dirty="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  <a:ea typeface="+mn-lt"/>
                <a:cs typeface="+mn-lt"/>
              </a:rPr>
              <a:t>Why it happened</a:t>
            </a:r>
            <a:endParaRPr lang="en-US" dirty="0">
              <a:solidFill>
                <a:srgbClr val="262626"/>
              </a:solidFill>
              <a:ea typeface="+mn-lt"/>
              <a:cs typeface="+mn-lt"/>
            </a:endParaRPr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  <a:ea typeface="+mn-lt"/>
                <a:cs typeface="+mn-lt"/>
              </a:rPr>
              <a:t>How</a:t>
            </a:r>
            <a:r>
              <a:rPr lang="en-US" dirty="0">
                <a:ea typeface="+mn-lt"/>
                <a:cs typeface="+mn-lt"/>
              </a:rPr>
              <a:t> the team can prevent it next time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In a just culture: “My problem is your problem.”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616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7E60-8FE5-F2B9-FD0B-906C38C7C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B80FF-93EF-484F-AD88-A54B70AB4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Some employees have fear of punishment and feel embarrassed when reporting mistakes that they have made</a:t>
            </a:r>
          </a:p>
          <a:p>
            <a:r>
              <a:rPr lang="en-US" dirty="0"/>
              <a:t>Employees fear of punishment can cause them to hide certain issues that at the end of the day are fixable simple problems</a:t>
            </a:r>
          </a:p>
          <a:p>
            <a:r>
              <a:rPr lang="en-US" dirty="0">
                <a:ea typeface="+mn-lt"/>
                <a:cs typeface="+mn-lt"/>
              </a:rPr>
              <a:t>True accountability means: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  <a:ea typeface="+mn-lt"/>
                <a:cs typeface="+mn-lt"/>
              </a:rPr>
              <a:t>Owning your actions</a:t>
            </a:r>
            <a:endParaRPr lang="en-US" dirty="0">
              <a:solidFill>
                <a:srgbClr val="262626"/>
              </a:solidFill>
              <a:ea typeface="+mn-lt"/>
              <a:cs typeface="+mn-lt"/>
            </a:endParaRPr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  <a:ea typeface="+mn-lt"/>
                <a:cs typeface="+mn-lt"/>
              </a:rPr>
              <a:t>Helping solve the issue</a:t>
            </a:r>
            <a:endParaRPr lang="en-US" dirty="0">
              <a:solidFill>
                <a:srgbClr val="262626"/>
              </a:solidFill>
              <a:ea typeface="+mn-lt"/>
              <a:cs typeface="+mn-lt"/>
            </a:endParaRPr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  <a:ea typeface="+mn-lt"/>
                <a:cs typeface="+mn-lt"/>
              </a:rPr>
              <a:t>Improving the process for everyone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</a:rPr>
              <a:t>Management needs to create a culture where reporting issues is the norm and employees will not be "punished" or feel </a:t>
            </a:r>
            <a:r>
              <a:rPr lang="en-US" dirty="0" err="1">
                <a:solidFill>
                  <a:srgbClr val="000000"/>
                </a:solidFill>
              </a:rPr>
              <a:t>embarassed</a:t>
            </a:r>
            <a:r>
              <a:rPr lang="en-US" dirty="0">
                <a:solidFill>
                  <a:srgbClr val="000000"/>
                </a:solidFill>
              </a:rPr>
              <a:t> when reporting issues</a:t>
            </a:r>
            <a:endParaRPr lang="en-US" spc="10" dirty="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en-US" spc="1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0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D005-6D1E-04BB-898B-5F6235C33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262BA-F9F1-B524-DF83-D734C6B46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Mistakes should not be looked at as failures but opportunities to learn</a:t>
            </a:r>
          </a:p>
          <a:p>
            <a:r>
              <a:rPr lang="en-US" dirty="0">
                <a:ea typeface="+mn-lt"/>
                <a:cs typeface="+mn-lt"/>
              </a:rPr>
              <a:t>Learning requires:</a:t>
            </a:r>
            <a:endParaRPr lang="en-US" dirty="0"/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  <a:ea typeface="+mn-lt"/>
                <a:cs typeface="+mn-lt"/>
              </a:rPr>
              <a:t>Honest discussions</a:t>
            </a:r>
            <a:endParaRPr lang="en-US" spc="10" dirty="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  <a:ea typeface="+mn-lt"/>
                <a:cs typeface="+mn-lt"/>
              </a:rPr>
              <a:t>Root-cause analysis</a:t>
            </a:r>
            <a:endParaRPr lang="en-US" spc="10" dirty="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  <a:ea typeface="+mn-lt"/>
                <a:cs typeface="+mn-lt"/>
              </a:rPr>
              <a:t>Willingness to change workflows</a:t>
            </a:r>
            <a:endParaRPr lang="en-US" spc="10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Relating to the previous slide, management should expect mistakes to happen and look at it as a learning opportunity</a:t>
            </a:r>
            <a:endParaRPr lang="en-US" spc="10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Create a culture where it is OK to make mistakes just make sure you learn from them and move forward </a:t>
            </a:r>
            <a:endParaRPr lang="en-US" spc="10" dirty="0">
              <a:solidFill>
                <a:srgbClr val="000000"/>
              </a:solidFill>
            </a:endParaRPr>
          </a:p>
          <a:p>
            <a:r>
              <a:rPr lang="en-US" spc="0" dirty="0">
                <a:solidFill>
                  <a:srgbClr val="000000"/>
                </a:solidFill>
              </a:rPr>
              <a:t>“A culture of blame prevents a culture of learning.”</a:t>
            </a:r>
            <a:endParaRPr lang="en-US" dirty="0">
              <a:solidFill>
                <a:srgbClr val="000000"/>
              </a:solidFill>
            </a:endParaRPr>
          </a:p>
          <a:p>
            <a:endParaRPr lang="en-US" spc="10" dirty="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83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1802-B715-E6DF-2832-0BC3395F3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59298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4" name="Content Placeholder 3" descr="A close-up of words&#10;&#10;AI-generated content may be incorrect.">
            <a:extLst>
              <a:ext uri="{FF2B5EF4-FFF2-40B4-BE49-F238E27FC236}">
                <a16:creationId xmlns:a16="http://schemas.microsoft.com/office/drawing/2014/main" id="{5753F88E-056E-C7CB-595D-3705B6BFD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081" y="1218783"/>
            <a:ext cx="4140574" cy="2091945"/>
          </a:xfrm>
          <a:prstGeom prst="rect">
            <a:avLst/>
          </a:prstGeom>
        </p:spPr>
      </p:pic>
      <p:pic>
        <p:nvPicPr>
          <p:cNvPr id="6" name="Picture 5" descr="A person and person talking&#10;&#10;AI-generated content may be incorrect.">
            <a:extLst>
              <a:ext uri="{FF2B5EF4-FFF2-40B4-BE49-F238E27FC236}">
                <a16:creationId xmlns:a16="http://schemas.microsoft.com/office/drawing/2014/main" id="{BDF1F50B-9574-42A5-DBF9-5935652BD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99" y="736508"/>
            <a:ext cx="4587690" cy="3054164"/>
          </a:xfrm>
          <a:prstGeom prst="rect">
            <a:avLst/>
          </a:prstGeom>
        </p:spPr>
      </p:pic>
      <p:pic>
        <p:nvPicPr>
          <p:cNvPr id="7" name="Picture 6" descr="A light bulb with icons in the shape of a light bulb&#10;&#10;AI-generated content may be incorrect.">
            <a:extLst>
              <a:ext uri="{FF2B5EF4-FFF2-40B4-BE49-F238E27FC236}">
                <a16:creationId xmlns:a16="http://schemas.microsoft.com/office/drawing/2014/main" id="{1DB18488-DF3F-68F8-FFD9-9E453EFB5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265" y="3793190"/>
            <a:ext cx="2835089" cy="283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38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EFB8-FEB0-DDBA-4A95-B75B13BD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177C-1230-7301-6250-0C64F8063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>
                <a:ea typeface="+mn-lt"/>
                <a:cs typeface="+mn-lt"/>
              </a:rPr>
              <a:t>Arneson, S. (2019, September 15). </a:t>
            </a:r>
            <a:r>
              <a:rPr lang="en-US" sz="1200" i="1" dirty="0">
                <a:ea typeface="+mn-lt"/>
                <a:cs typeface="+mn-lt"/>
              </a:rPr>
              <a:t>As long as I’m still learning, I’ll continue teaching.</a:t>
            </a:r>
            <a:r>
              <a:rPr lang="en-US" sz="1200" dirty="0">
                <a:ea typeface="+mn-lt"/>
                <a:cs typeface="+mn-lt"/>
              </a:rPr>
              <a:t> Arneson Communicates. </a:t>
            </a:r>
            <a:r>
              <a:rPr lang="en-US" sz="1200" dirty="0">
                <a:ea typeface="+mn-lt"/>
                <a:cs typeface="+mn-lt"/>
                <a:hlinkClick r:id="rId2"/>
              </a:rPr>
              <a:t>https://www.arnesoncommunicates.com/blogs-and-news/as-long-as-im-still-learning-ill-continue-teaching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Atlassian.</a:t>
            </a:r>
            <a:r>
              <a:rPr lang="en-US" sz="1200" dirty="0">
                <a:ea typeface="+mn-lt"/>
                <a:cs typeface="+mn-lt"/>
              </a:rPr>
              <a:t> (n.d.). </a:t>
            </a:r>
            <a:r>
              <a:rPr lang="en-US" sz="1200" i="1" dirty="0">
                <a:ea typeface="+mn-lt"/>
                <a:cs typeface="+mn-lt"/>
              </a:rPr>
              <a:t>DevOps culture.</a:t>
            </a:r>
            <a:r>
              <a:rPr lang="en-US" sz="1200" dirty="0">
                <a:ea typeface="+mn-lt"/>
                <a:cs typeface="+mn-lt"/>
              </a:rPr>
              <a:t> </a:t>
            </a:r>
            <a:r>
              <a:rPr lang="en-US" sz="1200" dirty="0">
                <a:ea typeface="+mn-lt"/>
                <a:cs typeface="+mn-lt"/>
                <a:hlinkClick r:id="rId3"/>
              </a:rPr>
              <a:t>https://www.atlassian.com/devops/what-is-devops/devops-culture</a:t>
            </a:r>
            <a:r>
              <a:rPr lang="en-US" sz="1200" dirty="0">
                <a:ea typeface="+mn-lt"/>
                <a:cs typeface="+mn-lt"/>
              </a:rPr>
              <a:t> </a:t>
            </a:r>
            <a:r>
              <a:rPr lang="en-US" sz="1200" dirty="0">
                <a:ea typeface="+mn-lt"/>
                <a:cs typeface="+mn-lt"/>
                <a:hlinkClick r:id="rId3"/>
              </a:rPr>
              <a:t>Atlassian</a:t>
            </a:r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Atlassian.</a:t>
            </a:r>
            <a:r>
              <a:rPr lang="en-US" sz="1200" dirty="0">
                <a:ea typeface="+mn-lt"/>
                <a:cs typeface="+mn-lt"/>
              </a:rPr>
              <a:t> (n.d.). </a:t>
            </a:r>
            <a:r>
              <a:rPr lang="en-US" sz="1200" i="1" dirty="0">
                <a:ea typeface="+mn-lt"/>
                <a:cs typeface="+mn-lt"/>
              </a:rPr>
              <a:t>How to run a blameless postmortem.</a:t>
            </a:r>
            <a:r>
              <a:rPr lang="en-US" sz="1200" dirty="0">
                <a:ea typeface="+mn-lt"/>
                <a:cs typeface="+mn-lt"/>
              </a:rPr>
              <a:t> </a:t>
            </a:r>
            <a:r>
              <a:rPr lang="en-US" sz="1200" dirty="0">
                <a:ea typeface="+mn-lt"/>
                <a:cs typeface="+mn-lt"/>
                <a:hlinkClick r:id="rId4"/>
              </a:rPr>
              <a:t>https://www.atlassian.com/incident-management/postmortem/blameless</a:t>
            </a:r>
            <a:r>
              <a:rPr lang="en-US" sz="1200" dirty="0">
                <a:ea typeface="+mn-lt"/>
                <a:cs typeface="+mn-lt"/>
              </a:rPr>
              <a:t> </a:t>
            </a:r>
            <a:r>
              <a:rPr lang="en-US" sz="1200" dirty="0">
                <a:ea typeface="+mn-lt"/>
                <a:cs typeface="+mn-lt"/>
                <a:hlinkClick r:id="rId4"/>
              </a:rPr>
              <a:t>Atlassian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Corporate Finance Institute. (n.d.). </a:t>
            </a:r>
            <a:r>
              <a:rPr lang="en-US" sz="1200" i="1" dirty="0">
                <a:ea typeface="+mn-lt"/>
                <a:cs typeface="+mn-lt"/>
              </a:rPr>
              <a:t>Accountability</a:t>
            </a:r>
            <a:r>
              <a:rPr lang="en-US" sz="1200" dirty="0">
                <a:ea typeface="+mn-lt"/>
                <a:cs typeface="+mn-lt"/>
              </a:rPr>
              <a:t>. Corporate Finance Institute. </a:t>
            </a:r>
            <a:r>
              <a:rPr lang="en-US" sz="1200" dirty="0">
                <a:ea typeface="+mn-lt"/>
                <a:cs typeface="+mn-lt"/>
                <a:hlinkClick r:id="rId5"/>
              </a:rPr>
              <a:t>https://corporatefinanceinstitute.com/resources/management/accountability/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Geraghty, T.</a:t>
            </a:r>
            <a:r>
              <a:rPr lang="en-US" sz="1200" dirty="0">
                <a:ea typeface="+mn-lt"/>
                <a:cs typeface="+mn-lt"/>
              </a:rPr>
              <a:t> (2023, March 20). </a:t>
            </a:r>
            <a:r>
              <a:rPr lang="en-US" sz="1200" i="1" dirty="0">
                <a:ea typeface="+mn-lt"/>
                <a:cs typeface="+mn-lt"/>
              </a:rPr>
              <a:t>The importance of psychological safety in DevOps teams.</a:t>
            </a:r>
            <a:r>
              <a:rPr lang="en-US" sz="1200" dirty="0">
                <a:ea typeface="+mn-lt"/>
                <a:cs typeface="+mn-lt"/>
              </a:rPr>
              <a:t> DevOps Agile Skills Association (DASA). </a:t>
            </a:r>
            <a:r>
              <a:rPr lang="en-US" sz="1200" dirty="0">
                <a:ea typeface="+mn-lt"/>
                <a:cs typeface="+mn-lt"/>
                <a:hlinkClick r:id="rId6"/>
              </a:rPr>
              <a:t>https://www.dasa.org/blog/the-importance-of-psychological-safety-in-devops-teams/</a:t>
            </a:r>
            <a:r>
              <a:rPr lang="en-US" sz="1200" dirty="0">
                <a:ea typeface="+mn-lt"/>
                <a:cs typeface="+mn-lt"/>
              </a:rPr>
              <a:t> </a:t>
            </a:r>
            <a:r>
              <a:rPr lang="en-US" sz="1200" dirty="0">
                <a:ea typeface="+mn-lt"/>
                <a:cs typeface="+mn-lt"/>
                <a:hlinkClick r:id="rId7"/>
              </a:rPr>
              <a:t>DASA</a:t>
            </a:r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Lunney, J., &amp; Lueder, S.</a:t>
            </a:r>
            <a:r>
              <a:rPr lang="en-US" sz="1200" dirty="0">
                <a:ea typeface="+mn-lt"/>
                <a:cs typeface="+mn-lt"/>
              </a:rPr>
              <a:t> (2016). Postmortem culture: Learning from failure. In B. Beyer, C. Jones, J. </a:t>
            </a:r>
            <a:r>
              <a:rPr lang="en-US" sz="1200" err="1">
                <a:ea typeface="+mn-lt"/>
                <a:cs typeface="+mn-lt"/>
              </a:rPr>
              <a:t>Petoff</a:t>
            </a:r>
            <a:r>
              <a:rPr lang="en-US" sz="1200" dirty="0">
                <a:ea typeface="+mn-lt"/>
                <a:cs typeface="+mn-lt"/>
              </a:rPr>
              <a:t>, &amp; N. R. Murphy (Eds.), </a:t>
            </a:r>
            <a:r>
              <a:rPr lang="en-US" sz="1200" i="1" dirty="0">
                <a:ea typeface="+mn-lt"/>
                <a:cs typeface="+mn-lt"/>
              </a:rPr>
              <a:t>Site reliability engineering: How Google runs production systems.</a:t>
            </a:r>
            <a:r>
              <a:rPr lang="en-US" sz="1200" dirty="0">
                <a:ea typeface="+mn-lt"/>
                <a:cs typeface="+mn-lt"/>
              </a:rPr>
              <a:t> O’Reilly Media. </a:t>
            </a:r>
            <a:r>
              <a:rPr lang="en-US" sz="1200" dirty="0">
                <a:ea typeface="+mn-lt"/>
                <a:cs typeface="+mn-lt"/>
                <a:hlinkClick r:id="rId8"/>
              </a:rPr>
              <a:t>https://sre.google/sre-book/postmortem-culture/</a:t>
            </a:r>
            <a:r>
              <a:rPr lang="en-US" sz="1200" dirty="0">
                <a:ea typeface="+mn-lt"/>
                <a:cs typeface="+mn-lt"/>
              </a:rPr>
              <a:t> </a:t>
            </a:r>
            <a:r>
              <a:rPr lang="en-US" sz="1200" dirty="0">
                <a:ea typeface="+mn-lt"/>
                <a:cs typeface="+mn-lt"/>
                <a:hlinkClick r:id="rId9"/>
              </a:rPr>
              <a:t>Google SRE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OpenAI. (2025). </a:t>
            </a:r>
            <a:r>
              <a:rPr lang="en-US" sz="1200" i="1" dirty="0">
                <a:ea typeface="+mn-lt"/>
                <a:cs typeface="+mn-lt"/>
              </a:rPr>
              <a:t>ChatGPT</a:t>
            </a:r>
            <a:r>
              <a:rPr lang="en-US" sz="1200" dirty="0">
                <a:ea typeface="+mn-lt"/>
                <a:cs typeface="+mn-lt"/>
              </a:rPr>
              <a:t> (version 5.1) [Large language model]. </a:t>
            </a:r>
            <a:r>
              <a:rPr lang="en-US" sz="1200" dirty="0">
                <a:ea typeface="+mn-lt"/>
                <a:cs typeface="+mn-lt"/>
                <a:hlinkClick r:id="rId10"/>
              </a:rPr>
              <a:t>https://chat.openai.com/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Seelam, J.</a:t>
            </a:r>
            <a:r>
              <a:rPr lang="en-US" sz="1200" dirty="0">
                <a:ea typeface="+mn-lt"/>
                <a:cs typeface="+mn-lt"/>
              </a:rPr>
              <a:t> (2025, August 6). </a:t>
            </a:r>
            <a:r>
              <a:rPr lang="en-US" sz="1200" i="1" dirty="0">
                <a:ea typeface="+mn-lt"/>
                <a:cs typeface="+mn-lt"/>
              </a:rPr>
              <a:t>From incidents to insights: The power of blameless postmortems.</a:t>
            </a:r>
            <a:r>
              <a:rPr lang="en-US" sz="1200" dirty="0">
                <a:ea typeface="+mn-lt"/>
                <a:cs typeface="+mn-lt"/>
              </a:rPr>
              <a:t> DevOps.com. </a:t>
            </a:r>
            <a:r>
              <a:rPr lang="en-US" sz="1200" dirty="0">
                <a:ea typeface="+mn-lt"/>
                <a:cs typeface="+mn-lt"/>
                <a:hlinkClick r:id="rId11"/>
              </a:rPr>
              <a:t>https://devops.com/from-incidents-to-insights-the-power-of-blameless-postmortems/</a:t>
            </a:r>
            <a:endParaRPr lang="en-US" sz="1200" dirty="0"/>
          </a:p>
          <a:p>
            <a:r>
              <a:rPr lang="en-US" sz="1200" dirty="0"/>
              <a:t>What Is Communication? Importance, Forms, Nature. (n.d.). </a:t>
            </a:r>
            <a:r>
              <a:rPr lang="en-US" sz="1200" i="1" dirty="0" err="1"/>
              <a:t>Geektonight</a:t>
            </a:r>
            <a:r>
              <a:rPr lang="en-US" sz="1200" i="1" dirty="0"/>
              <a:t>.</a:t>
            </a:r>
            <a:r>
              <a:rPr lang="en-US" sz="1200" dirty="0"/>
              <a:t> </a:t>
            </a:r>
            <a:r>
              <a:rPr lang="en-US" sz="1200" dirty="0">
                <a:hlinkClick r:id="rId12"/>
              </a:rPr>
              <a:t>https://www.geektonight.com/what-is-communication/</a:t>
            </a:r>
            <a:endParaRPr lang="en-US" sz="12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2891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View</vt:lpstr>
      <vt:lpstr>Establishing a Just, Learning Culture</vt:lpstr>
      <vt:lpstr>Just Culture </vt:lpstr>
      <vt:lpstr>Communication </vt:lpstr>
      <vt:lpstr>Accountability </vt:lpstr>
      <vt:lpstr>Learning </vt:lpstr>
      <vt:lpstr>PowerPoint Presentation</vt:lpstr>
      <vt:lpstr>Sources: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215</cp:revision>
  <dcterms:created xsi:type="dcterms:W3CDTF">2025-12-05T22:30:03Z</dcterms:created>
  <dcterms:modified xsi:type="dcterms:W3CDTF">2025-12-07T14:56:57Z</dcterms:modified>
</cp:coreProperties>
</file>