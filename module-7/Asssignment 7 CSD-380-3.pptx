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A39D8-7FE1-7C30-BC7C-402D7E341919}" v="1025" dt="2025-11-30T16:42:44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32885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14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5182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14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25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79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83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4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5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1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doghq.com/blog/on-call-rotations/?utm_source=chatgpt.com" TargetMode="External"/><Relationship Id="rId2" Type="http://schemas.openxmlformats.org/officeDocument/2006/relationships/hyperlink" Target="https://cloudchipr.com/blog/devops-as-a-service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agerduty.com/" TargetMode="External"/><Relationship Id="rId4" Type="http://schemas.openxmlformats.org/officeDocument/2006/relationships/hyperlink" Target="https://chatgp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Pager Rotation Duties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Justin Marucci</a:t>
            </a:r>
          </a:p>
          <a:p>
            <a:r>
              <a:rPr lang="en-US"/>
              <a:t>Assignment 7</a:t>
            </a:r>
          </a:p>
          <a:p>
            <a:r>
              <a:rPr lang="en-US"/>
              <a:t>CSD-380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2F9E-DBBA-A96B-8387-04F2C5D6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Pager Rotation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A9B45-550E-B6C4-3398-260CFD4B3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Pager rotation is when certain engineers are "on call" and responsible for responding attend to certain incidents and threats outside of work hours.</a:t>
            </a:r>
          </a:p>
          <a:p>
            <a:r>
              <a:rPr lang="en-US" dirty="0"/>
              <a:t>Rotate schedules so it is fair for all engineers – this prevents engineers from overworking if they are always on call.</a:t>
            </a:r>
          </a:p>
          <a:p>
            <a:r>
              <a:rPr lang="en-US" dirty="0"/>
              <a:t>"You build it, you maintain it" </a:t>
            </a:r>
            <a:r>
              <a:rPr lang="en-US" dirty="0">
                <a:ea typeface="+mn-lt"/>
                <a:cs typeface="+mn-lt"/>
              </a:rPr>
              <a:t>means the people who write the code also go on-call for it. This gives developers more ownership and encourages them to test their work carefully to avoid bugs.</a:t>
            </a:r>
            <a:endParaRPr lang="en-US" dirty="0"/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12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22FA-2796-D9F0-A3D0-3E23C0EE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Pager Rotation?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E390C-15FB-08FE-0E44-72389CF46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Faster Detection - Having an engineer on call when there are problems makes it easier for the issue to be fixed in a timely manner. </a:t>
            </a:r>
          </a:p>
          <a:p>
            <a:r>
              <a:rPr lang="en-US" dirty="0">
                <a:ea typeface="+mn-lt"/>
                <a:cs typeface="+mn-lt"/>
              </a:rPr>
              <a:t>Problems become visible to developers - On-call experience shows developers real issues in production, leading to better code, fewer bugs, and stronger system design.</a:t>
            </a:r>
            <a:endParaRPr lang="en-US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0B54C4A5-360C-A38F-513C-2ECDB2317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237" y="3504639"/>
            <a:ext cx="6084792" cy="316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45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CC2E-ABB1-C72A-6037-D7C1BF1DF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Best Pager Rotation Practices – Scheduling, Culture and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4523-E420-394F-929C-5215B69B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Have a fair rotation between engineers to prevent burnout and catch issues quickly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</a:rPr>
              <a:t>This will help keep a healthy team culture as it can feel unfair if the pager rotation schedule seems unfair</a:t>
            </a:r>
            <a:endParaRPr lang="en-US" dirty="0"/>
          </a:p>
          <a:p>
            <a:r>
              <a:rPr lang="en-US" dirty="0"/>
              <a:t>Engineers that are on call will be called to work 24/7 (even after work hours) to fix and issues that arise in the system</a:t>
            </a:r>
          </a:p>
          <a:p>
            <a:r>
              <a:rPr lang="en-US" dirty="0"/>
              <a:t>Scheduling roles: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 dirty="0">
                <a:solidFill>
                  <a:srgbClr val="000000"/>
                </a:solidFill>
              </a:rPr>
              <a:t>Primary – 1st line of defense to attend to system issues</a:t>
            </a:r>
          </a:p>
          <a:p>
            <a:pPr lvl="1">
              <a:buFont typeface="Courier New" pitchFamily="34" charset="0"/>
              <a:buChar char="o"/>
            </a:pPr>
            <a:r>
              <a:rPr lang="en-US" dirty="0"/>
              <a:t>Secondary – Supports the Primary role (Larger issues)</a:t>
            </a:r>
          </a:p>
          <a:p>
            <a:r>
              <a:rPr lang="en-US" spc="0" dirty="0">
                <a:solidFill>
                  <a:srgbClr val="262626"/>
                </a:solidFill>
                <a:ea typeface="+mn-lt"/>
                <a:cs typeface="+mn-lt"/>
              </a:rPr>
              <a:t>Defined escalation paths:</a:t>
            </a:r>
            <a:br>
              <a:rPr lang="en-US" spc="0" dirty="0">
                <a:ea typeface="+mn-lt"/>
                <a:cs typeface="+mn-lt"/>
              </a:rPr>
            </a:br>
            <a:r>
              <a:rPr lang="en-US" spc="0" dirty="0">
                <a:solidFill>
                  <a:srgbClr val="262626"/>
                </a:solidFill>
                <a:ea typeface="+mn-lt"/>
                <a:cs typeface="+mn-lt"/>
              </a:rPr>
              <a:t>A clear process showing who to contact next if the primary and secondary cannot resolve the issue. This often includes senior engineers or specialty teams.</a:t>
            </a:r>
            <a:endParaRPr lang="en-US" spc="0" dirty="0">
              <a:solidFill>
                <a:srgbClr val="262626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432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397E-F765-0954-4AB1-E547F859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740" y="641063"/>
            <a:ext cx="3525938" cy="5572924"/>
          </a:xfrm>
        </p:spPr>
        <p:txBody>
          <a:bodyPr anchor="t">
            <a:normAutofit/>
          </a:bodyPr>
          <a:lstStyle/>
          <a:p>
            <a:r>
              <a:rPr lang="en-US" dirty="0"/>
              <a:t>Tools Used in Pager Rotations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C09D4-B057-9192-33D4-2DE21105E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894" y="641064"/>
            <a:ext cx="6286571" cy="345898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/>
            <a:r>
              <a:rPr lang="en-US" sz="1500">
                <a:ea typeface="+mn-lt"/>
                <a:cs typeface="+mn-lt"/>
              </a:rPr>
              <a:t>Alerting Tools – PagerDuty, </a:t>
            </a:r>
            <a:r>
              <a:rPr lang="en-US" sz="1500" err="1">
                <a:ea typeface="+mn-lt"/>
                <a:cs typeface="+mn-lt"/>
              </a:rPr>
              <a:t>Opsgenie</a:t>
            </a:r>
            <a:endParaRPr lang="en-US" sz="1500" err="1"/>
          </a:p>
          <a:p>
            <a:pPr marL="560070" lvl="1" indent="-285750">
              <a:buFont typeface="Courier New" pitchFamily="34" charset="0"/>
              <a:buChar char="o"/>
            </a:pPr>
            <a:r>
              <a:rPr lang="en-US" sz="1500" spc="10"/>
              <a:t>These tools help alert engineers on the rotation when there is a system issue.</a:t>
            </a:r>
          </a:p>
          <a:p>
            <a:pPr marL="560070" lvl="1" indent="-285750">
              <a:buFont typeface="Courier New" pitchFamily="34" charset="0"/>
              <a:buChar char="o"/>
            </a:pPr>
            <a:r>
              <a:rPr lang="en-US" sz="1500" spc="10">
                <a:ea typeface="+mn-lt"/>
                <a:cs typeface="+mn-lt"/>
              </a:rPr>
              <a:t>They handle scheduling, escalations, notifications (SMS, phone, push), and allow teams to acknowledge or silence alerts quickly.</a:t>
            </a:r>
            <a:endParaRPr lang="en-US" sz="1500" spc="10"/>
          </a:p>
          <a:p>
            <a:pPr marL="285750"/>
            <a:r>
              <a:rPr lang="en-US" sz="1500">
                <a:ea typeface="+mn-lt"/>
                <a:cs typeface="+mn-lt"/>
              </a:rPr>
              <a:t>Monitoring Tools – Prometheus, Datadog</a:t>
            </a:r>
            <a:endParaRPr lang="en-US" sz="1500" spc="10"/>
          </a:p>
          <a:p>
            <a:pPr marL="560070" lvl="1">
              <a:buFont typeface="Courier New" pitchFamily="34" charset="0"/>
              <a:buChar char="o"/>
            </a:pPr>
            <a:r>
              <a:rPr lang="en-US" sz="1500" spc="10"/>
              <a:t>Collect data based on and give feedback on system health</a:t>
            </a:r>
          </a:p>
          <a:p>
            <a:pPr marL="285750"/>
            <a:r>
              <a:rPr lang="en-US" sz="1500" spc="0">
                <a:ea typeface="+mn-lt"/>
                <a:cs typeface="+mn-lt"/>
              </a:rPr>
              <a:t>On-Call Dashboards</a:t>
            </a:r>
          </a:p>
          <a:p>
            <a:pPr marL="560070" lvl="1">
              <a:buFont typeface="Courier New" pitchFamily="34" charset="0"/>
              <a:buChar char="o"/>
            </a:pPr>
            <a:r>
              <a:rPr lang="en-US" sz="1500" spc="10">
                <a:ea typeface="+mn-lt"/>
                <a:cs typeface="+mn-lt"/>
              </a:rPr>
              <a:t>Displays who is on-call, current workload, alert trends, and fairness across the rotation to prevent burnout.</a:t>
            </a:r>
          </a:p>
          <a:p>
            <a:pPr marL="560070" lvl="1">
              <a:buFont typeface="Courier New" pitchFamily="34" charset="0"/>
              <a:buChar char="o"/>
            </a:pPr>
            <a:r>
              <a:rPr lang="en-US" sz="1500" spc="10"/>
              <a:t>See Example below:</a:t>
            </a:r>
          </a:p>
          <a:p>
            <a:pPr marL="560070" lvl="1">
              <a:buFont typeface="Courier New" pitchFamily="34" charset="0"/>
              <a:buChar char="o"/>
            </a:pPr>
            <a:endParaRPr lang="en-US" sz="1500" spc="10"/>
          </a:p>
          <a:p>
            <a:pPr marL="377190" lvl="1" indent="0">
              <a:buNone/>
            </a:pPr>
            <a:endParaRPr lang="en-US" sz="1500" spc="10"/>
          </a:p>
        </p:txBody>
      </p:sp>
      <p:pic>
        <p:nvPicPr>
          <p:cNvPr id="4" name="Picture 3" descr="A screenshot of a calendar&#10;&#10;AI-generated content may be incorrect.">
            <a:extLst>
              <a:ext uri="{FF2B5EF4-FFF2-40B4-BE49-F238E27FC236}">
                <a16:creationId xmlns:a16="http://schemas.microsoft.com/office/drawing/2014/main" id="{1ADB1590-76A2-558D-24D2-F342686DF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92" y="3990416"/>
            <a:ext cx="7288364" cy="222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6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778D-F3CE-ADF1-8AB6-9C5C12E77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1C31-D2D1-6BB9-8810-7F8433E6D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Pager rotation improves reliability by ensuring someone is always available to quickly respond to system issues.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Shared on-call ownership helps developers understand real production problems, leading to better code and stronger system design.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Fair scheduling prevents burnout, keeps workloads balanced, and maintains a healthy team culture.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Clear on-call roles (primary, secondary, escalation) make incident response faster and more organized.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Monitoring and alerting tools (PagerDuty, Datadog, Prometheus) help teams detect problems early and respond efficiently.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Pager rotation supports core DevOps principles like fast feedback, continuous improvement, and full-service ownership.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0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1AAD-9356-4AED-D301-AB8E49C14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FD40-5D9E-E8CC-647E-8F9C59DA8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Cloudchipr</a:t>
            </a:r>
            <a:r>
              <a:rPr lang="en-US" b="1" dirty="0">
                <a:ea typeface="+mn-lt"/>
                <a:cs typeface="+mn-lt"/>
              </a:rPr>
              <a:t>. (2025, April 22).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i="1" dirty="0">
                <a:ea typeface="+mn-lt"/>
                <a:cs typeface="+mn-lt"/>
              </a:rPr>
              <a:t>DevOps as a Service: What It Is, How It Works, and Why It Matters.</a:t>
            </a:r>
            <a:r>
              <a:rPr lang="en-US" dirty="0">
                <a:ea typeface="+mn-lt"/>
                <a:cs typeface="+mn-lt"/>
                <a:hlinkClick r:id="rId2"/>
              </a:rPr>
              <a:t>https://cloudchipr.com/blog/devops-as-a-service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Datadog. (2025, March 26).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i="1" dirty="0">
                <a:ea typeface="+mn-lt"/>
                <a:cs typeface="+mn-lt"/>
              </a:rPr>
              <a:t>How we structure on-call rotations at Datadog.</a:t>
            </a:r>
            <a:r>
              <a:rPr lang="en-US" dirty="0">
                <a:ea typeface="+mn-lt"/>
                <a:cs typeface="+mn-lt"/>
              </a:rPr>
              <a:t> Datadog. </a:t>
            </a:r>
            <a:r>
              <a:rPr lang="en-US" dirty="0">
                <a:ea typeface="+mn-lt"/>
                <a:cs typeface="+mn-lt"/>
                <a:hlinkClick r:id="rId3"/>
              </a:rPr>
              <a:t>https://www.datadoghq.com/blog/on-call-rotations/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OpenAI. (2025).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i="1" dirty="0">
                <a:ea typeface="+mn-lt"/>
                <a:cs typeface="+mn-lt"/>
              </a:rPr>
              <a:t>ChatGPT (Nov 2025 version)</a:t>
            </a:r>
            <a:r>
              <a:rPr lang="en-US" dirty="0">
                <a:ea typeface="+mn-lt"/>
                <a:cs typeface="+mn-lt"/>
              </a:rPr>
              <a:t> [Large language model]. </a:t>
            </a:r>
            <a:r>
              <a:rPr lang="en-US" dirty="0">
                <a:ea typeface="+mn-lt"/>
                <a:cs typeface="+mn-lt"/>
                <a:hlinkClick r:id="rId4"/>
              </a:rPr>
              <a:t>https://chatgpt.com</a:t>
            </a:r>
            <a:br>
              <a:rPr lang="en-US" dirty="0">
                <a:ea typeface="+mn-lt"/>
                <a:cs typeface="+mn-lt"/>
              </a:rPr>
            </a:br>
            <a:r>
              <a:rPr lang="en-US" dirty="0"/>
              <a:t>(Formatting)</a:t>
            </a:r>
          </a:p>
          <a:p>
            <a:r>
              <a:rPr lang="en-US" b="1" dirty="0">
                <a:ea typeface="+mn-lt"/>
                <a:cs typeface="+mn-lt"/>
              </a:rPr>
              <a:t>PagerDuty. (n.d.).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i="1" dirty="0">
                <a:ea typeface="+mn-lt"/>
                <a:cs typeface="+mn-lt"/>
              </a:rPr>
              <a:t>On-call management best practices.</a:t>
            </a:r>
            <a:r>
              <a:rPr lang="en-US" dirty="0">
                <a:ea typeface="+mn-lt"/>
                <a:cs typeface="+mn-lt"/>
              </a:rPr>
              <a:t> PagerDuty. </a:t>
            </a:r>
            <a:r>
              <a:rPr lang="en-US" dirty="0">
                <a:ea typeface="+mn-lt"/>
                <a:cs typeface="+mn-lt"/>
                <a:hlinkClick r:id="rId5"/>
              </a:rPr>
              <a:t>https://www.pagerduty.com/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The DevOps Handbook citation (textbook):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Kim, G., Humble, J., Debois, P., Willis, J., &amp; </a:t>
            </a:r>
            <a:r>
              <a:rPr lang="en-US" b="1" dirty="0" err="1">
                <a:ea typeface="+mn-lt"/>
                <a:cs typeface="+mn-lt"/>
              </a:rPr>
              <a:t>Allspaw</a:t>
            </a:r>
            <a:r>
              <a:rPr lang="en-US" b="1" dirty="0">
                <a:ea typeface="+mn-lt"/>
                <a:cs typeface="+mn-lt"/>
              </a:rPr>
              <a:t>, J. (2016). </a:t>
            </a:r>
            <a:r>
              <a:rPr lang="en-US" i="1" dirty="0">
                <a:ea typeface="+mn-lt"/>
                <a:cs typeface="+mn-lt"/>
              </a:rPr>
              <a:t>The DevOps handbook: How to create world-class agility, reliability, &amp; security in technology organizations</a:t>
            </a:r>
            <a:r>
              <a:rPr lang="en-US" dirty="0">
                <a:ea typeface="+mn-lt"/>
                <a:cs typeface="+mn-lt"/>
              </a:rPr>
              <a:t> (2nd ed.). IT Revolution Press.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4063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View</vt:lpstr>
      <vt:lpstr>Pager Rotation Duties</vt:lpstr>
      <vt:lpstr>Pager Rotation Overview</vt:lpstr>
      <vt:lpstr>Why Use Pager Rotation?</vt:lpstr>
      <vt:lpstr>Best Pager Rotation Practices – Scheduling, Culture and Collaboration</vt:lpstr>
      <vt:lpstr>Tools Used in Pager Rotations </vt:lpstr>
      <vt:lpstr>Key Takeaways</vt:lpstr>
      <vt:lpstr>Sources: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186</cp:revision>
  <dcterms:created xsi:type="dcterms:W3CDTF">2025-11-28T19:31:20Z</dcterms:created>
  <dcterms:modified xsi:type="dcterms:W3CDTF">2025-11-30T16:47:20Z</dcterms:modified>
</cp:coreProperties>
</file>